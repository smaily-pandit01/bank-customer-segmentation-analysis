
<file path=[Content_Types].xml><?xml version="1.0" encoding="utf-8"?>
<Types xmlns="http://schemas.openxmlformats.org/package/2006/content-types">
  <Default Extension="fntdata" ContentType="application/x-fontdata"/>
  <Default Extension="glb" ContentType="model/gltf.binary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59" r:id="rId26"/>
  </p:sldIdLst>
  <p:sldSz cx="12192000" cy="6858000"/>
  <p:notesSz cx="6858000" cy="9144000"/>
  <p:embeddedFontLst>
    <p:embeddedFont>
      <p:font typeface="Arial Black" panose="020B0A04020102020204" pitchFamily="34" charset="0"/>
      <p:bold r:id="rId28"/>
    </p:embeddedFont>
    <p:embeddedFont>
      <p:font typeface="Lato Black" panose="020F0502020204030203" pitchFamily="34" charset="0"/>
      <p:bold r:id="rId29"/>
      <p:boldItalic r:id="rId30"/>
    </p:embeddedFont>
    <p:embeddedFont>
      <p:font typeface="Libre Baskerville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rY7ZVHx6TZwajwKcMFXn2VnWI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81A79EB-B887-31F9-A8A6-59A22F60C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5D8D748-11BC-A894-5B0A-1D60B977DF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477930B1-BE0F-3603-5677-E8255CE87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0143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C6B2E52-0FC6-80CF-E76B-67B1B7B99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EB5B1CE-C42F-53FB-77F9-F6AD2F35FF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A1A462D-D0F6-BF45-7416-9DD95D2CFB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4262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DB50484-1645-B791-A5C9-83E237A0C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8833305-C0ED-5B8C-3C27-88C4ECCB9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9A13E91-75CE-FB38-FCE7-3F7032B64D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44236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0D8825A-687A-11C2-1EB8-7E55E63AA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87A1565-6D37-410F-D905-D9F4459739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2940E3BB-A02A-1FC7-9E1D-6E04B9056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1191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5B26E78-F72F-8944-6033-FE3D7B0E4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EF333FF-4F2B-94C1-CF41-351CAA9E94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81B8E3E-B91F-2472-258F-296D639BD9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3414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E100F7F-AFE7-241F-9283-14A0B587C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7C00472-FDF4-E633-D7FE-C40BACF422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93E0866-A8A7-B77C-16EB-9C73C3329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24633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75C7CA8-F650-4B9D-2844-D8A1E46E8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13D9832-140C-1946-2D25-9FA84FF784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D369B1C-00BD-4E54-1444-FAA6E62CDB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5074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47640A3-DFB7-B89F-2D64-AF42151C4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8974237-17AF-9663-1D1F-11CAB7363D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A4ED913-523D-1AC0-07ED-90E4D51A56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2986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899A534-3C5B-8B53-5FBB-8AAD66D1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D229AD9-7752-4C39-A790-B42E23510B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F464E2D-E09E-3E0A-DDAC-9BCA088FC6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0231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8FB0BE8-9089-A2A5-540C-29BEE25B6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7F23940-0E17-AABE-D2F7-A9D854E1B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EBC95F2-0293-9CB8-D0A7-5103B084BD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287882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EC3BF16-0BC8-6D81-C971-8782B7BB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4C6D8C1-EC32-8A38-94B7-D4A012F17D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4EF73177-A9DD-C3F5-2AF0-C29FE10E1E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17252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D3B0B47-B84B-E1B5-3CBA-C00D9BBC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CBEE1B14-6E29-6CD8-8365-A10479DD46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2A067F0-EBAE-315D-10B1-77F1570F8B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88152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1CF8FFF-E493-376A-A288-EBEAE5CA5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C17012D-B222-5728-F3B7-86CDAE85AF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EA674F81-A5DB-0BF5-D54A-D67EC43395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7513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458C5B6-F4AC-A21D-2D95-2A84DCE14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C7E162F-6B29-D828-6572-1EF36D5D37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E012B08-C527-C5EB-1AAB-9B6A82B1F9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195042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CA96F28-CCAC-CA7D-4385-D0CCB29AC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861C548-F411-04EC-CD21-63A3C9F63D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4C398FB-7AA5-A23B-DF68-0F57BCEB7A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01376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5AA1238-0812-1B9D-4BF7-515A05B71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DF732D6-ACB3-0BBB-FAB4-417FBFCF7C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F703F62-97B0-EAE7-48FB-EEB77A008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91779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6519C27-7DE9-A358-9EF4-DBBF45C5D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93018D5-2759-DDA0-7A6B-9DDE50BAFD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59269587-FABB-B505-52CB-DAEA01852D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90235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3090DF9-0544-8DD8-B76B-A7CB09435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73F12D4-0E50-7F2F-8B4E-6A73E557FD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FD11199-61B9-84A3-9315-EB35B556B5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77391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54BF758-0806-702A-9FA5-6973F63D8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0AF7F02-732A-FE10-F9B1-CBAB19CEF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BF4B391-58E2-BA72-5363-E34D6AEF41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66592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E483C4-93DA-5393-061A-46FCE4229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CC06E207-F836-A6E1-FCC0-867E7A92A1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539C7550-6C2E-DF7D-819F-F559D6211F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113088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D46A17A-3B59-8EE1-E843-8336E82C0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C873F97-A131-CB08-99E3-1DA30B6E5C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4C42E5B-9C1E-B69D-FF50-68D99FFCA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68429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1EF7AD9-3A98-003B-2999-6EB4E66D1325}"/>
              </a:ext>
            </a:extLst>
          </p:cNvPr>
          <p:cNvSpPr/>
          <p:nvPr/>
        </p:nvSpPr>
        <p:spPr>
          <a:xfrm>
            <a:off x="1752933" y="3627931"/>
            <a:ext cx="8379230" cy="1474732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latin typeface="Arial Black" panose="020B0A04020102020204" pitchFamily="34" charset="0"/>
              </a:rPr>
              <a:t>BANK CUSTOMER SEGMENTAION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D1592F-AEDC-6F4C-43D0-E83B2A375E69}"/>
              </a:ext>
            </a:extLst>
          </p:cNvPr>
          <p:cNvSpPr txBox="1"/>
          <p:nvPr/>
        </p:nvSpPr>
        <p:spPr>
          <a:xfrm>
            <a:off x="32198" y="6083509"/>
            <a:ext cx="31255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PRESENTED BY :</a:t>
            </a:r>
          </a:p>
          <a:p>
            <a:r>
              <a:rPr lang="en-IN" b="1" dirty="0"/>
              <a:t>NAME :</a:t>
            </a:r>
            <a:r>
              <a:rPr lang="en-IN" dirty="0"/>
              <a:t> </a:t>
            </a:r>
            <a:r>
              <a:rPr lang="en-IN" dirty="0" err="1"/>
              <a:t>Smaily</a:t>
            </a:r>
            <a:r>
              <a:rPr lang="en-IN" dirty="0"/>
              <a:t> Pandit </a:t>
            </a:r>
            <a:r>
              <a:rPr lang="en-IN" dirty="0" err="1"/>
              <a:t>Fulzele</a:t>
            </a:r>
            <a:endParaRPr lang="en-IN" dirty="0"/>
          </a:p>
          <a:p>
            <a:r>
              <a:rPr lang="en-IN" b="1" dirty="0"/>
              <a:t>BATCH No. : </a:t>
            </a:r>
            <a:r>
              <a:rPr lang="en-IN" dirty="0"/>
              <a:t>517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0" y="283551"/>
            <a:ext cx="1150942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C0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6272CA-6B42-677D-8F88-30FB490A590F}"/>
              </a:ext>
            </a:extLst>
          </p:cNvPr>
          <p:cNvSpPr/>
          <p:nvPr/>
        </p:nvSpPr>
        <p:spPr>
          <a:xfrm>
            <a:off x="997528" y="1059868"/>
            <a:ext cx="9908771" cy="46010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</a:rPr>
              <a:t>I Am </a:t>
            </a:r>
            <a:r>
              <a:rPr lang="en-IN" sz="2400" b="1" dirty="0">
                <a:solidFill>
                  <a:schemeClr val="tx1"/>
                </a:solidFill>
              </a:rPr>
              <a:t>SMAILY PANDIT FULZELE</a:t>
            </a:r>
            <a:r>
              <a:rPr lang="en-IN" sz="2400" dirty="0">
                <a:solidFill>
                  <a:schemeClr val="tx1"/>
                </a:solidFill>
              </a:rPr>
              <a:t>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dirty="0">
                <a:solidFill>
                  <a:schemeClr val="tx1"/>
                </a:solidFill>
              </a:rPr>
              <a:t>I have completed my Graduation and Post Graduation in Chemistry. With a strong interest in analytical thinking, problem- solving, and working with data, I choose to transition into the field of Data Analytics.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dirty="0" err="1">
                <a:solidFill>
                  <a:schemeClr val="tx1"/>
                </a:solidFill>
              </a:rPr>
              <a:t>Linkdln</a:t>
            </a:r>
            <a:r>
              <a:rPr lang="en-IN" sz="2400" dirty="0">
                <a:solidFill>
                  <a:schemeClr val="tx1"/>
                </a:solidFill>
              </a:rPr>
              <a:t> :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dirty="0">
                <a:solidFill>
                  <a:schemeClr val="tx1"/>
                </a:solidFill>
              </a:rPr>
              <a:t>GitHub :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Agenda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510312" y="1202188"/>
            <a:ext cx="10515600" cy="4965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For Collecting The Data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B2D3BED-DB6C-2C97-D9FD-4C5D020E0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831B07FF-A39D-D849-2EAB-5545A24F60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Introduction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D726021E-86D0-4485-29D1-9B41482778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9709" y="1113905"/>
            <a:ext cx="10706794" cy="453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banking sector generates extensive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customer, demographic, and transaction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can be leveraged to understand customer need and business performance.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profiles, transaction patterns, customer value, and behavioural trends through interactive dashboards and visualizations.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covers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 Analysis, Transaction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Insights, Customer segmentation, and profitability and Risk Indicators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 analysis provides insights into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gender, locations and customer profile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transaction analysis identifies patterns in transaction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frequency, amount, timing and activity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helps classify customers based on their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recency, frequency, monetary value, engagement and loyalty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better understanding of different customer groups.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and risk indicators further helps identify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customers, profitable segments and customers requiring greater attention.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transforms raw banking data into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meaningful, interactive, and actionable insights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support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retention, targeted marketing, risk management, and data- driven business decision.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135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36E5F0C-B694-AB79-DE2C-3C9FF9320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43F50DED-63CD-19B6-2AB1-670D868E55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Problem Statement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EDBACAF1-E5B3-FEFD-69AD-9064F85B11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087" y="1188719"/>
            <a:ext cx="10848110" cy="557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: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Banks generate large volumes of customer and transaction data, but extracting meaningful business insights from this data can be challenging.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Problems :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understanding of customer demographics and profiles.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identifying transaction behaviour and spending patterns.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effective customer segmentation based on value and engagement.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identifying high-value, inactive, and potentially risky customers.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measuring customer profitability and risk indicators.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7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leverage Power BI and data analytics to transform raw banking data into interactive, actionable insights that support customer targeting, retention, profitability, risk management and data-driven decision- making.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052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2BEC978-790F-8C73-493C-E4BDD9CB0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6490841-F3E4-DA4F-F17D-DE01AF9E77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Objective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075BA03C-039E-135D-54E7-BD01B7EB88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584" y="1055716"/>
            <a:ext cx="10997739" cy="571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 :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Power BI and Data analytics to understand customer behaviour, identify valuable customer segments and generate actionable banking insights.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Objectives :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Demographics to understand customer distribution across age, gender, location and other demographic attributes.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Behaviour to identify patterns in transaction volume, frequency, amount, timing and spending behaviour.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customer segmentation to categorize customers based on recency, frequency, monetary value, engagement and loyalty.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Profitability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contribution of different customers and segments to revenue and profitability.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risk indicators to identify high risky or less-engaged customer segments requiring attention .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on interactive Dashboard to create a user friendly Power BI dashboard with KPIs, filters and meaningful visualization.</a:t>
            </a:r>
          </a:p>
          <a:p>
            <a:pPr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Actionable insights to support customer retention, targeted marketing, profitability improvement and informed business decisions.</a:t>
            </a:r>
          </a:p>
          <a:p>
            <a:pPr marL="114300" indent="0">
              <a:lnSpc>
                <a:spcPct val="7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988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D9B0558-0516-A8E8-DB79-8AD2EF3C6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6F0D9A5D-D92A-7C32-A0C7-A5A92F30AA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Data Source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F5390964-674B-EE25-0202-D6F1E4468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584" y="1055716"/>
            <a:ext cx="10922925" cy="4921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of Data :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bank_transactions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 :</a:t>
            </a:r>
          </a:p>
          <a:p>
            <a:pPr>
              <a:lnSpc>
                <a:spcPct val="7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TransactionID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ID assigned to each individual transaction.</a:t>
            </a:r>
          </a:p>
          <a:p>
            <a:pPr>
              <a:lnSpc>
                <a:spcPct val="7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 linking each transaction to a specific customer.</a:t>
            </a:r>
          </a:p>
          <a:p>
            <a:pPr>
              <a:lnSpc>
                <a:spcPct val="7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CustomerDOB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birth of customer, useful for calculating age.</a:t>
            </a:r>
          </a:p>
          <a:p>
            <a:pPr>
              <a:lnSpc>
                <a:spcPct val="7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CustGender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of the customer (e.g., Male, Female).</a:t>
            </a:r>
          </a:p>
          <a:p>
            <a:pPr>
              <a:lnSpc>
                <a:spcPct val="7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CustLocation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location or city of the customer.</a:t>
            </a:r>
          </a:p>
          <a:p>
            <a:pPr>
              <a:lnSpc>
                <a:spcPct val="7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CustAccountBalace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balance at the time of the transaction.</a:t>
            </a:r>
          </a:p>
          <a:p>
            <a:pPr>
              <a:lnSpc>
                <a:spcPct val="7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TransactionDate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date when the transaction occurred.</a:t>
            </a:r>
          </a:p>
          <a:p>
            <a:pPr>
              <a:lnSpc>
                <a:spcPct val="7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TransactionTime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exact time when transaction was executed.</a:t>
            </a:r>
          </a:p>
          <a:p>
            <a:pPr>
              <a:lnSpc>
                <a:spcPct val="70000"/>
              </a:lnSpc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TranscationAmount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(INR)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amount of money involved in transaction in INR.</a:t>
            </a:r>
          </a:p>
        </p:txBody>
      </p:sp>
    </p:spTree>
    <p:extLst>
      <p:ext uri="{BB962C8B-B14F-4D97-AF65-F5344CB8AC3E}">
        <p14:creationId xmlns:p14="http://schemas.microsoft.com/office/powerpoint/2010/main" val="356083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F15F182-B534-272F-25D0-B87E63109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746CDCA4-8BFD-4375-DC1B-66EE126F54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547" y="-7318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Steps For Collecting The Data 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4B172486-FD37-93C4-E82C-03F4B1B348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2865" y="1047403"/>
            <a:ext cx="11200014" cy="5652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Identify the Data Source : 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Dataset was sourced from bank transactions containing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CustomerDOB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CustGender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CustLocation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CustAccountBalance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TransactionTime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TransactionDate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TransactionAmount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(INR).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Collect the Dataset :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Collected the required data in a structured format such as CSV or Excel for further analysis.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Review the Data : 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Examined the dataset columns, data types, missing values, duplicates, and inconsistencies.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Clean and Prepare the Data :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Removed duplicates, handled missing or incorrect values, standardized formats and prepared the data for analysis.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Transform the Data :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Created required calculated columns, measures, KPIs, and customer segments attributes.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Load into Power BI :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Imported the prepared dataset into Power BI and established the required relationships between tables.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IN" sz="1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Visualize :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Created interactive dashboards and analysed customer demographics, transaction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customer segments, profitability and risk indicators.</a:t>
            </a: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778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D67EE53-9653-2598-446E-44B23C0CC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E7CC79C-433E-A543-76FE-F4E05CB7D2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Data Cleaning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A9368BC4-F278-D2D0-E76B-83CDE2627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2465" y="1280161"/>
            <a:ext cx="10332720" cy="4912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and Fixed </a:t>
            </a: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columns like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CustomerDOB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lnSpc>
                <a:spcPct val="7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from entire column.</a:t>
            </a:r>
          </a:p>
          <a:p>
            <a:pPr marL="114300" indent="0">
              <a:lnSpc>
                <a:spcPct val="7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Corrected data types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CustomerDOB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TransactionTime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lnSpc>
                <a:spcPct val="7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Maintained consistent formats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dates, times, categorical values and numerical fields.</a:t>
            </a:r>
          </a:p>
          <a:p>
            <a:pPr marL="114300" indent="0">
              <a:lnSpc>
                <a:spcPct val="7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Checked for invalid values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replaced it with null in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CustomerDOB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lnSpc>
                <a:spcPct val="7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Cleaned dataset was finalized and loaded into Power BI for further transformation, analysis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22105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D4164C5-AB1C-46C3-41BD-29A6835F0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8876392-7063-F292-3972-7B49BC7163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Dashboard Overview</a:t>
            </a:r>
            <a:endParaRPr b="1" u="sng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F1634C-15E3-9905-74F0-07A2A0D86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96" y="1746443"/>
            <a:ext cx="6891251" cy="38704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4BD7F5-F0D0-4768-16A5-59454E4F8D72}"/>
              </a:ext>
            </a:extLst>
          </p:cNvPr>
          <p:cNvSpPr txBox="1"/>
          <p:nvPr/>
        </p:nvSpPr>
        <p:spPr>
          <a:xfrm>
            <a:off x="324196" y="1071089"/>
            <a:ext cx="7556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dashboard was designed to provide a comprehensive view of Customer behaviour, value, profitability, and risk through interactive visualizations.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EE973B-5042-3503-CD43-D2A6F7FDB5C3}"/>
              </a:ext>
            </a:extLst>
          </p:cNvPr>
          <p:cNvSpPr/>
          <p:nvPr/>
        </p:nvSpPr>
        <p:spPr>
          <a:xfrm>
            <a:off x="7606145" y="855092"/>
            <a:ext cx="4106487" cy="51478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Components :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Demographics Analysis 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customer distribution by age,        gender, location and other demographic characteristics.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</a:t>
            </a:r>
            <a:r>
              <a:rPr lang="en-IN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Insights 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transaction volume, highest single transaction amount, frequency, timing and activity patterns.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Analysis 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customers into meaningful segments based on recency, monetary, frequency value such as New, loyal, Lost customers.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and Risk Indicators :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Highlighted revenue contribution based on risk indicators, visualized high risk customers.</a:t>
            </a:r>
          </a:p>
        </p:txBody>
      </p:sp>
    </p:spTree>
    <p:extLst>
      <p:ext uri="{BB962C8B-B14F-4D97-AF65-F5344CB8AC3E}">
        <p14:creationId xmlns:p14="http://schemas.microsoft.com/office/powerpoint/2010/main" val="393537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AC4B399-6530-CE29-5F87-9C581D537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BDD104B1-B1C6-D224-CD2D-3E4CC114ED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4000" b="1" dirty="0">
                <a:solidFill>
                  <a:srgbClr val="002060"/>
                </a:solidFill>
              </a:rPr>
              <a:t>1. </a:t>
            </a:r>
            <a:r>
              <a:rPr lang="en-IN" sz="4000" b="1" u="sng" dirty="0">
                <a:solidFill>
                  <a:srgbClr val="002060"/>
                </a:solidFill>
              </a:rPr>
              <a:t>Customer Demographics Analysis</a:t>
            </a:r>
            <a:endParaRPr sz="4000" b="1" u="sng" dirty="0">
              <a:solidFill>
                <a:srgbClr val="00206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3383F6-F603-87E2-E63F-679AD9BEA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288" y="1155469"/>
            <a:ext cx="8753302" cy="506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870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AE8B763-8DF4-7793-C104-DAE4D7419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8C246D76-33BF-8C25-A3EC-D2E4C71E24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Key Insights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B56C4E59-DBFB-4BAD-4FAE-A335562FD6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643" y="1088968"/>
            <a:ext cx="10681854" cy="5561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70000"/>
              </a:lnSpc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884K customers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an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customer age of 40.42 years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a predominantly mature customer base.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Male customers form the largest customer group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accounting for approximately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71.5%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total customer base, while female represent around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28.5%.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36-45 age group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the highest customer concentration, followed by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26-35 age group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strong representation among working-age customers.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distribution is geographically concentrated, with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Mumbai, New Delhi, </a:t>
            </a:r>
            <a:r>
              <a:rPr lang="en-IN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Banglore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Gurgaon and Delhi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emerging as the leading customer locations.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 distribution varies across age groups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providing opportunities to design more targeted products and marketing strategies.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presence of customers across multiple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groups and locations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a diverse customer base that can be further segmented for personalized banking services.  </a:t>
            </a:r>
          </a:p>
        </p:txBody>
      </p:sp>
    </p:spTree>
    <p:extLst>
      <p:ext uri="{BB962C8B-B14F-4D97-AF65-F5344CB8AC3E}">
        <p14:creationId xmlns:p14="http://schemas.microsoft.com/office/powerpoint/2010/main" val="1034031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8D3899E-4FCA-E63B-541C-F17CAA036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0DDF129-F3D1-B41F-649E-3F6A8C87CE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002060"/>
                </a:solidFill>
              </a:rPr>
              <a:t>2. </a:t>
            </a:r>
            <a:r>
              <a:rPr lang="en-IN" b="1" u="sng" dirty="0">
                <a:solidFill>
                  <a:srgbClr val="002060"/>
                </a:solidFill>
              </a:rPr>
              <a:t>Transaction Behaviour Insights</a:t>
            </a:r>
            <a:endParaRPr b="1" u="sng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5F842-F635-38B5-FF76-C4B64321B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506" y="1077603"/>
            <a:ext cx="8890527" cy="513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493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3B9804D-1C90-3DE2-382A-92F15DADC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17BA9C7-AD59-7670-91CE-3970B8DF81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5097" y="-25606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Key Insights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F8F023E5-74A1-2072-56EC-B449369759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754" y="806334"/>
            <a:ext cx="11538064" cy="5750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records approximately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million transactions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stronger customer activity.</a:t>
            </a:r>
          </a:p>
          <a:p>
            <a:pPr marL="114300" indent="0">
              <a:lnSpc>
                <a:spcPct val="7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transaction amount is 1.57K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most transactions are relatively moderate in value.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single transaction is 1.56M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 presence of a few very high-value transactions that may require monitoring.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account balance is 115.40K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substantially higher than the average transaction amount.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activity rises during the day and reaches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highest level around 19:00-20:00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before declining sharply later in the evening.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average transaction amounts among younger age groups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the average declining across the older age groups.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volumes differ across weekdays, with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 appearing particularly active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displayed summary.</a:t>
            </a:r>
          </a:p>
          <a:p>
            <a:pPr marL="114300" indent="0">
              <a:lnSpc>
                <a:spcPct val="7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237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AE85D33-9843-B4DD-C575-BA3D7D85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E4B4A3E-90BD-88B6-E4F7-2ADA607739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002060"/>
                </a:solidFill>
              </a:rPr>
              <a:t>3. </a:t>
            </a:r>
            <a:r>
              <a:rPr lang="en-IN" b="1" u="sng" dirty="0">
                <a:solidFill>
                  <a:srgbClr val="002060"/>
                </a:solidFill>
              </a:rPr>
              <a:t>Customer Segmentation Analysis</a:t>
            </a:r>
            <a:endParaRPr b="1" u="sng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B8D4-C419-A26F-CE26-216E46762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870" y="1199109"/>
            <a:ext cx="8631339" cy="478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085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C083B57-C76D-CB56-7F38-CA8C38C9F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BE4C4BC-29DB-2287-79C1-0037BCE226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159" y="-15631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Key Insights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B60931E2-5B86-9E55-266F-DA7926020D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9258" y="947652"/>
            <a:ext cx="11692583" cy="5561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7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8K loyal customers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identified, representing a smaller but valuable customer segment.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customers generate approximately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1.39B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the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largest revenue-contributing segment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70000"/>
              </a:lnSpc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292K customers are classified as lost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representing a significant opportunity for customer retention and reactivation.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Loyal customers have highest average revenue per customer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lost customers contribute least on average.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66.07% new customers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the larger segment and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33.04% lost customers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the other major segment, highlighting uneven customer distribution.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base is spread across multiple age groups, with the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18-25 and 26-35 groups forming a substantial portion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displayed customer counts.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customers have the highest overall RFM score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lost customers show a comparatively lower displayed RFM total.</a:t>
            </a:r>
          </a:p>
        </p:txBody>
      </p:sp>
    </p:spTree>
    <p:extLst>
      <p:ext uri="{BB962C8B-B14F-4D97-AF65-F5344CB8AC3E}">
        <p14:creationId xmlns:p14="http://schemas.microsoft.com/office/powerpoint/2010/main" val="2592937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16C245D-B9ED-70EB-6118-A523CD1B0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EED038AB-68C9-7680-0951-4491D06943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002060"/>
                </a:solidFill>
              </a:rPr>
              <a:t>4. </a:t>
            </a:r>
            <a:r>
              <a:rPr lang="en-IN" b="1" u="sng" dirty="0">
                <a:solidFill>
                  <a:srgbClr val="002060"/>
                </a:solidFill>
              </a:rPr>
              <a:t>Profitability and Risk Indicator</a:t>
            </a:r>
            <a:endParaRPr b="1" u="sng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A3644F-6F5A-3F28-61F2-F352F5855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386" y="1131302"/>
            <a:ext cx="8798290" cy="497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937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835E8A0-54C9-B556-FCFF-313398390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3E9A05D-4173-81B9-3EEA-1E0A85899E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159" y="-15631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Key Insights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069D265B-9B52-78C1-BE90-D32224FF1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9258" y="947652"/>
            <a:ext cx="11692583" cy="5561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7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1.65B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showing strong overall revenue generation.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292K customers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classified as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risk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customer risk management a major concern.</a:t>
            </a:r>
          </a:p>
          <a:p>
            <a:pPr>
              <a:lnSpc>
                <a:spcPct val="70000"/>
              </a:lnSpc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customers appear to fall into the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medium-risk category (584K),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high-risk customers account for roughly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292K.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risk customers have the highest average account balance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medium-risk and high-risk customers.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 risk customers contribute the largest share of total customer revenue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significantly higher that high and low risk groups.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risk customers have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highest average M score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the high-risk customers have the lowest, indicting weaker monetary value behaviour among high-risk customers.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 high risk customers each generate close to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2,000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customer revenue, with the top 10 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contributing amount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19,998.73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collectively</a:t>
            </a:r>
          </a:p>
        </p:txBody>
      </p:sp>
    </p:spTree>
    <p:extLst>
      <p:ext uri="{BB962C8B-B14F-4D97-AF65-F5344CB8AC3E}">
        <p14:creationId xmlns:p14="http://schemas.microsoft.com/office/powerpoint/2010/main" val="1042098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A6BEA9F-31E4-FED0-B1F6-73B1B2FF5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CAD48DD-7B96-2932-448A-6A0AE0CB74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Overall Summary</a:t>
            </a:r>
            <a:endParaRPr b="1" u="sng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337B9C-EEE2-A255-B0BC-20F1D3AE5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915" y="1204904"/>
            <a:ext cx="8566802" cy="489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02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175C72B-1F83-DF83-C98F-0545DE837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A433ADE-DF17-1B15-9537-F54E4D6241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159" y="-15631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Key Insights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AABB3BB1-7EEE-4F9A-B611-ACEBA36427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9258" y="947652"/>
            <a:ext cx="11692583" cy="5561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70000"/>
              </a:lnSpc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884K customers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an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customer age of 40.42 years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a predominantly mature customer base.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transaction amount is 1.57K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most transactions are relatively moderate in value.</a:t>
            </a:r>
          </a:p>
          <a:p>
            <a:pPr>
              <a:lnSpc>
                <a:spcPct val="70000"/>
              </a:lnSpc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single transaction is 1.56M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 presence of a few very high-value transactions that may require monitoring.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8K loyal customers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identified, representing a smaller but valuable customer segment.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292K customers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classified as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risk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customer risk management a major concern.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Male customers form the largest customer group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accounting for approximately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71.5%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total customer base, while female represent around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28.5%.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36-45 age group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the highest customer concentration, followed by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26-35 age group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strong representation among working-age customers.</a:t>
            </a:r>
          </a:p>
        </p:txBody>
      </p:sp>
    </p:spTree>
    <p:extLst>
      <p:ext uri="{BB962C8B-B14F-4D97-AF65-F5344CB8AC3E}">
        <p14:creationId xmlns:p14="http://schemas.microsoft.com/office/powerpoint/2010/main" val="843531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3334104-46D5-2CE1-391C-125AC663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FA19BCF1-5A65-F9BC-8CFE-401052C947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9258" y="282633"/>
            <a:ext cx="11692583" cy="6226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activity rises during the day and reaches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highest level around 19:00-20:00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before declining sharply later in the evening.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Loyal customers have highest average revenue per customer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lost customers contribute least on average.</a:t>
            </a:r>
          </a:p>
          <a:p>
            <a:pPr>
              <a:lnSpc>
                <a:spcPct val="70000"/>
              </a:lnSpc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distribution is geographically concentrated, with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Mumbai, New Delhi, </a:t>
            </a:r>
            <a:r>
              <a:rPr lang="en-IN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Banglore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Gurgaon and Delhi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emerging as the leading customer locations.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average transaction amounts among younger age groups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the average declining across the older age groups.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66.07% new customers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the larger segment and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33.04% lost customers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the other major segment, highlighting uneven customer distribution.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risk customers have the highest average account balance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medium-risk and high-risk customers.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 high risk customers each generate close to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2,000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customer revenue, with the top 10 contributing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19,998.73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collectively.</a:t>
            </a:r>
          </a:p>
        </p:txBody>
      </p:sp>
    </p:spTree>
    <p:extLst>
      <p:ext uri="{BB962C8B-B14F-4D97-AF65-F5344CB8AC3E}">
        <p14:creationId xmlns:p14="http://schemas.microsoft.com/office/powerpoint/2010/main" val="1498399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57B7DAD-F2B9-1FBC-E585-0E587FD35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E915B23-1732-78E4-04A2-C8CF3F2A8A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159" y="-15631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Business Recommendation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8CA4DD08-9403-8A61-87DB-D1C3958312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9258" y="947652"/>
            <a:ext cx="11692583" cy="5561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7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targeted banking products and offers based on age, gender, location, transaction behaviour and customer segment.</a:t>
            </a:r>
          </a:p>
          <a:p>
            <a:pPr marL="114300" indent="0">
              <a:lnSpc>
                <a:spcPct val="7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loyalty benefits, personalized communication, and exclusive services to retain high value and loyal customers.</a:t>
            </a:r>
          </a:p>
          <a:p>
            <a:pPr marL="114300" indent="0">
              <a:lnSpc>
                <a:spcPct val="7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lost or low-engagement customers and use targeted campaigns, special offers, and digital communication to encourage them to return.</a:t>
            </a:r>
          </a:p>
          <a:p>
            <a:pPr marL="114300" indent="0">
              <a:lnSpc>
                <a:spcPct val="7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relevant products such as credit cards, loans, investments, and savings plans to customers with strong transaction activity and financial potential.</a:t>
            </a:r>
          </a:p>
          <a:p>
            <a:pPr marL="114300" indent="0">
              <a:lnSpc>
                <a:spcPct val="7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customers showing increasing transaction frequency, monetary value, or engagement and develop strategies to move them toward higher-value segments.</a:t>
            </a:r>
          </a:p>
          <a:p>
            <a:pPr>
              <a:lnSpc>
                <a:spcPct val="7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customers and segments with higher risk indicators and apply appropriate monitoring, verification and risk control measures.</a:t>
            </a:r>
          </a:p>
          <a:p>
            <a:pPr>
              <a:lnSpc>
                <a:spcPct val="7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marketing and branch on high-customer-concentration locations while identifying opportunities in underrepresented regions.</a:t>
            </a:r>
          </a:p>
          <a:p>
            <a:pPr>
              <a:lnSpc>
                <a:spcPct val="7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Power BI dashboards regularly to monitor KPIs, customer movement between segments, profitability and risk trends for timely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959460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051CA04-8300-FED5-3898-C36C70BBF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1096380-0881-C088-ECF0-C68D8136B0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159" y="-15631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Conclusion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3CCC5A3A-BB5B-F32E-C521-AEF3FA723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9258" y="1005842"/>
            <a:ext cx="11692583" cy="5561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7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identified key customer demographic patterns, including age, gender and location distribution.</a:t>
            </a:r>
          </a:p>
          <a:p>
            <a:pPr>
              <a:lnSpc>
                <a:spcPct val="70000"/>
              </a:lnSpc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analysis revealed important patterns in transaction value, frequency, and timing.</a:t>
            </a:r>
          </a:p>
          <a:p>
            <a:pPr>
              <a:lnSpc>
                <a:spcPct val="70000"/>
              </a:lnSpc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helped distinguish between New, Loyal and Lost customers enabling more targeted strategies.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highlighted the importance of focusing on high values customers while improving engagement with less-active customers.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 identified a significant high-risk customer base, emphasizing the need for continuous monitoring and effective risk management.</a:t>
            </a:r>
          </a:p>
          <a:p>
            <a:pPr>
              <a:lnSpc>
                <a:spcPct val="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Power BI dashboard brought these insights together through interactive KPIs, charts, filters, and detailed visualizations.</a:t>
            </a:r>
          </a:p>
          <a:p>
            <a:pPr marL="114300" indent="0">
              <a:lnSpc>
                <a:spcPct val="7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499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F9A1100-119B-10CD-C88C-B1CCF41D5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Red Question mark">
                <a:extLst>
                  <a:ext uri="{FF2B5EF4-FFF2-40B4-BE49-F238E27FC236}">
                    <a16:creationId xmlns:a16="http://schemas.microsoft.com/office/drawing/2014/main" id="{D2132B87-CE67-53E1-7D1D-2737C0314AC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82019823"/>
                  </p:ext>
                </p:extLst>
              </p:nvPr>
            </p:nvGraphicFramePr>
            <p:xfrm>
              <a:off x="2972029" y="734909"/>
              <a:ext cx="2422281" cy="3925644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422281" cy="3925644"/>
                    </a:xfrm>
                    <a:prstGeom prst="rect">
                      <a:avLst/>
                    </a:prstGeom>
                  </am3d:spPr>
                  <am3d:camera>
                    <am3d:pos x="0" y="0" z="5538953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517042" d="1000000"/>
                    <am3d:preTrans dx="0" dy="-18004113" dz="-4973"/>
                    <am3d:scale>
                      <am3d:sx n="1000000" d="1000000"/>
                      <am3d:sy n="1000000" d="1000000"/>
                      <am3d:sz n="1000000" d="1000000"/>
                    </am3d:scale>
                    <am3d:rot ay="1080000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87790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Red Question mark">
                <a:extLst>
                  <a:ext uri="{FF2B5EF4-FFF2-40B4-BE49-F238E27FC236}">
                    <a16:creationId xmlns:a16="http://schemas.microsoft.com/office/drawing/2014/main" id="{D2132B87-CE67-53E1-7D1D-2737C0314AC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72029" y="734909"/>
                <a:ext cx="2422281" cy="392564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B7115A8-52BC-F13A-C1B7-E32B74BBED32}"/>
              </a:ext>
            </a:extLst>
          </p:cNvPr>
          <p:cNvSpPr txBox="1"/>
          <p:nvPr/>
        </p:nvSpPr>
        <p:spPr>
          <a:xfrm>
            <a:off x="4599206" y="3179871"/>
            <a:ext cx="476092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 Black" panose="020B0A04020102020204" pitchFamily="34" charset="0"/>
              </a:rPr>
              <a:t>Any</a:t>
            </a:r>
          </a:p>
          <a:p>
            <a:r>
              <a:rPr lang="en-IN" sz="6000" b="1" dirty="0">
                <a:latin typeface="Arial Black" panose="020B0A04020102020204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577398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2507349" y="2398683"/>
            <a:ext cx="395916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6000" b="1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6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2159</Words>
  <Application>Microsoft Office PowerPoint</Application>
  <PresentationFormat>Widescreen</PresentationFormat>
  <Paragraphs>231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Lato Black</vt:lpstr>
      <vt:lpstr>Libre Baskerville</vt:lpstr>
      <vt:lpstr>Times New Roman</vt:lpstr>
      <vt:lpstr>Calibri</vt:lpstr>
      <vt:lpstr>Arial</vt:lpstr>
      <vt:lpstr>Arial Black</vt:lpstr>
      <vt:lpstr>Office Theme</vt:lpstr>
      <vt:lpstr>PowerPoint Presentation</vt:lpstr>
      <vt:lpstr>PowerPoint Presentation</vt:lpstr>
      <vt:lpstr>Agenda</vt:lpstr>
      <vt:lpstr>Introduction</vt:lpstr>
      <vt:lpstr>Problem Statement</vt:lpstr>
      <vt:lpstr>Objective</vt:lpstr>
      <vt:lpstr>Data Source</vt:lpstr>
      <vt:lpstr>Steps For Collecting The Data </vt:lpstr>
      <vt:lpstr>Data Cleaning</vt:lpstr>
      <vt:lpstr>Dashboard Overview</vt:lpstr>
      <vt:lpstr>1. Customer Demographics Analysis</vt:lpstr>
      <vt:lpstr>Key Insights</vt:lpstr>
      <vt:lpstr>2. Transaction Behaviour Insights</vt:lpstr>
      <vt:lpstr>Key Insights</vt:lpstr>
      <vt:lpstr>3. Customer Segmentation Analysis</vt:lpstr>
      <vt:lpstr>Key Insights</vt:lpstr>
      <vt:lpstr>4. Profitability and Risk Indicator</vt:lpstr>
      <vt:lpstr>Key Insights</vt:lpstr>
      <vt:lpstr>Overall Summary</vt:lpstr>
      <vt:lpstr>Key Insights</vt:lpstr>
      <vt:lpstr>PowerPoint Presentation</vt:lpstr>
      <vt:lpstr>Business Recommendation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Smiley Pandit</cp:lastModifiedBy>
  <cp:revision>4</cp:revision>
  <dcterms:created xsi:type="dcterms:W3CDTF">2021-02-16T05:19:01Z</dcterms:created>
  <dcterms:modified xsi:type="dcterms:W3CDTF">2026-09-13T18:16:26Z</dcterms:modified>
</cp:coreProperties>
</file>